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11.svg" ContentType="image/svg"/>
  <Override PartName="/ppt/media/image2.jpeg" ContentType="image/jpeg"/>
  <Override PartName="/ppt/media/image4.jpeg" ContentType="image/jpe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svg" ContentType="image/sv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Fai </a:t>
            </a: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clic </a:t>
            </a: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per </a:t>
            </a: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sp</a:t>
            </a: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ost</a:t>
            </a: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are </a:t>
            </a: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la </a:t>
            </a: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dia</a:t>
            </a: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po</a:t>
            </a: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siti</a:t>
            </a: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va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Fai clic per modificare il formato delle note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&lt;intestazione&gt;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&lt;data/ora&gt;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2378BBA-31E8-44AA-B38F-B022CE61F756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&lt;numero&gt;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F83C64-A794-43C5-964B-81E9EC4460CF}" type="slidenum">
              <a:rPr b="0" lang="it-IT" sz="1200" spc="-1" strike="noStrike">
                <a:solidFill>
                  <a:srgbClr val="000000"/>
                </a:solidFill>
                <a:latin typeface="Times New Roman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ED2C3C-CC60-41A9-BEC1-789876A78B31}" type="slidenum">
              <a:rPr b="0" lang="it-IT" sz="1200" spc="-1" strike="noStrike">
                <a:solidFill>
                  <a:srgbClr val="000000"/>
                </a:solidFill>
                <a:latin typeface="Times New Roman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pert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pertina_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erna_solo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erna_solo testo_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erna_immagine+testo_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rocopert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rocopertina_H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5.pn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Sfondo diapositiva" descr="Università degli Studi di Firenze. &#10;&#10;Sfondo blu istituzionale con Salomone e logo di ateneo."/>
          <p:cNvPicPr/>
          <p:nvPr/>
        </p:nvPicPr>
        <p:blipFill>
          <a:blip r:embed="rId2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Fai clic per modificare il formato del testo del titolo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Fai clic per modificare il formato del testo della </a:t>
            </a: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struttura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</a:rPr>
              <a:t>Secondo livello struttura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00000"/>
                </a:solidFill>
                <a:latin typeface="Arial"/>
              </a:rPr>
              <a:t>Terzo livello struttura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Quarto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Quinto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Sesto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Settimo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fondo diapositiva" descr="Università degli Studi di Firenze. &#10;&#10;Sfondo blu istituzionale con Salomone e logo di ateneo."/>
          <p:cNvPicPr/>
          <p:nvPr/>
        </p:nvPicPr>
        <p:blipFill>
          <a:blip r:embed="rId2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pic>
        <p:nvPicPr>
          <p:cNvPr id="4" name="Immagine 3" descr="HR Excellence in Research"/>
          <p:cNvPicPr/>
          <p:nvPr/>
        </p:nvPicPr>
        <p:blipFill>
          <a:blip r:embed="rId3"/>
          <a:stretch/>
        </p:blipFill>
        <p:spPr>
          <a:xfrm>
            <a:off x="10604520" y="0"/>
            <a:ext cx="1586520" cy="13705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fondo diapositiva" descr="Sfondo bianco con logo dell'Università degli Studi di Firenze e Salomone."/>
          <p:cNvPicPr/>
          <p:nvPr/>
        </p:nvPicPr>
        <p:blipFill>
          <a:blip r:embed="rId2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sp>
        <p:nvSpPr>
          <p:cNvPr id="6" name="Numero slide"/>
          <p:cNvSpPr/>
          <p:nvPr/>
        </p:nvSpPr>
        <p:spPr>
          <a:xfrm>
            <a:off x="10398960" y="6598080"/>
            <a:ext cx="135756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fld id="{259734E2-907C-4D8B-BC39-C1CE36966AC2}" type="slidenum">
              <a:rPr b="1" lang="it-IT" sz="1100" spc="-1" strike="noStrike">
                <a:solidFill>
                  <a:schemeClr val="lt1"/>
                </a:solidFill>
                <a:latin typeface="Verdana"/>
                <a:ea typeface="Verdana"/>
              </a:rPr>
              <a:t>&lt;numero&gt;</a:t>
            </a:fld>
            <a:endParaRPr b="0" lang="it-I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Fai clic per modificare il formato del testo del titolo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Fai clic per modificare il formato del testo della </a:t>
            </a: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struttura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</a:rPr>
              <a:t>Secondo livello struttura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00000"/>
                </a:solidFill>
                <a:latin typeface="Arial"/>
              </a:rPr>
              <a:t>Terzo livello struttura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Quarto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Quinto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Sesto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Settimo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fondo diapositiva" descr="Sfondo bianco con logo dell'Università degli Studi di Firenze e Salomone."/>
          <p:cNvPicPr/>
          <p:nvPr/>
        </p:nvPicPr>
        <p:blipFill>
          <a:blip r:embed="rId2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sp>
        <p:nvSpPr>
          <p:cNvPr id="10" name="Numero slide"/>
          <p:cNvSpPr/>
          <p:nvPr/>
        </p:nvSpPr>
        <p:spPr>
          <a:xfrm>
            <a:off x="10398960" y="6598080"/>
            <a:ext cx="135756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fld id="{EDE7964A-000A-4D6B-9FD1-7689838801B1}" type="slidenum">
              <a:rPr b="1" lang="it-IT" sz="1100" spc="-1" strike="noStrike">
                <a:solidFill>
                  <a:schemeClr val="lt1"/>
                </a:solidFill>
                <a:latin typeface="Verdana"/>
                <a:ea typeface="Verdana"/>
              </a:rPr>
              <a:t>&lt;numero&gt;</a:t>
            </a:fld>
            <a:endParaRPr b="0" lang="it-IT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Immagine 3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rcRect l="23536" t="0" r="0" b="0"/>
          <a:stretch/>
        </p:blipFill>
        <p:spPr>
          <a:xfrm>
            <a:off x="11124000" y="0"/>
            <a:ext cx="1067040" cy="10785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fondo diapositiva" descr="Sfondo bianco con logo dell'Università degli Studi di Firenze e Salomone."/>
          <p:cNvPicPr/>
          <p:nvPr/>
        </p:nvPicPr>
        <p:blipFill>
          <a:blip r:embed="rId2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sp>
        <p:nvSpPr>
          <p:cNvPr id="13" name="Numero diapositiva"/>
          <p:cNvSpPr/>
          <p:nvPr/>
        </p:nvSpPr>
        <p:spPr>
          <a:xfrm>
            <a:off x="10398960" y="6598080"/>
            <a:ext cx="135756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fld id="{2DC927DB-3BF5-468E-92A3-FB280F8D4764}" type="slidenum">
              <a:rPr b="1" lang="it-IT" sz="1100" spc="-1" strike="noStrike">
                <a:solidFill>
                  <a:schemeClr val="lt1"/>
                </a:solidFill>
                <a:latin typeface="Verdana"/>
                <a:ea typeface="Verdana"/>
              </a:rPr>
              <a:t>&lt;numero&gt;</a:t>
            </a:fld>
            <a:endParaRPr b="0" lang="it-IT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" name="Immagine 1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rcRect l="23536" t="0" r="0" b="0"/>
          <a:stretch/>
        </p:blipFill>
        <p:spPr>
          <a:xfrm>
            <a:off x="11124000" y="0"/>
            <a:ext cx="1067040" cy="1078560"/>
          </a:xfrm>
          <a:prstGeom prst="rect">
            <a:avLst/>
          </a:prstGeom>
          <a:ln w="0">
            <a:noFill/>
          </a:ln>
        </p:spPr>
      </p:pic>
      <p:sp>
        <p:nvSpPr>
          <p:cNvPr id="15" name="Titolo diapositiva"/>
          <p:cNvSpPr/>
          <p:nvPr/>
        </p:nvSpPr>
        <p:spPr>
          <a:xfrm>
            <a:off x="775800" y="957960"/>
            <a:ext cx="879300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1" lang="it-IT" sz="2200" spc="-1" strike="noStrike">
                <a:solidFill>
                  <a:schemeClr val="dk1"/>
                </a:solidFill>
                <a:latin typeface="Verdana"/>
                <a:ea typeface="Verdana"/>
              </a:rPr>
              <a:t>Fare clic per modificare lo stile del titolo dello schema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fondo diapositiva" descr="Università degli Studi di Firenze. &#10;&#10;Sfondo blu istituzionale con Salomone e logo di ateneo."/>
          <p:cNvPicPr/>
          <p:nvPr/>
        </p:nvPicPr>
        <p:blipFill>
          <a:blip r:embed="rId2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Fai clic per modificare il formato del testo del titolo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Fai clic per modificare il formato del testo della </a:t>
            </a: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struttura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</a:rPr>
              <a:t>Secondo livello struttura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00000"/>
                </a:solidFill>
                <a:latin typeface="Arial"/>
              </a:rPr>
              <a:t>Terzo livello struttura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Quarto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Quinto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Sesto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Settimo livello struttura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fondo diapositiva" descr="Università degli Studi di Firenze. &#10;&#10;Sfondo blu istituzionale con Salomone e logo di ateneo."/>
          <p:cNvPicPr/>
          <p:nvPr/>
        </p:nvPicPr>
        <p:blipFill>
          <a:blip r:embed="rId2"/>
          <a:stretch/>
        </p:blipFill>
        <p:spPr>
          <a:xfrm>
            <a:off x="0" y="0"/>
            <a:ext cx="12191040" cy="6856920"/>
          </a:xfrm>
          <a:prstGeom prst="rect">
            <a:avLst/>
          </a:prstGeom>
          <a:ln w="0">
            <a:noFill/>
          </a:ln>
        </p:spPr>
      </p:pic>
      <p:pic>
        <p:nvPicPr>
          <p:cNvPr id="20" name="Immagine 9" descr="HR Excellence in Research"/>
          <p:cNvPicPr/>
          <p:nvPr/>
        </p:nvPicPr>
        <p:blipFill>
          <a:blip r:embed="rId3"/>
          <a:stretch/>
        </p:blipFill>
        <p:spPr>
          <a:xfrm>
            <a:off x="10604520" y="0"/>
            <a:ext cx="1586520" cy="13705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image" Target="../media/image10.png"/><Relationship Id="rId6" Type="http://schemas.openxmlformats.org/officeDocument/2006/relationships/image" Target="../media/image11.svg"/><Relationship Id="rId7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claude.com/" TargetMode="External"/><Relationship Id="rId2" Type="http://schemas.openxmlformats.org/officeDocument/2006/relationships/hyperlink" Target="https://gemini.google.com/" TargetMode="External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asellaDiTesto 6"/>
          <p:cNvSpPr/>
          <p:nvPr/>
        </p:nvSpPr>
        <p:spPr>
          <a:xfrm>
            <a:off x="664920" y="2459520"/>
            <a:ext cx="1103400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it-IT" sz="4400" spc="-1" strike="noStrike">
                <a:solidFill>
                  <a:schemeClr val="lt1"/>
                </a:solidFill>
                <a:latin typeface="Verdana"/>
                <a:ea typeface="Verdana"/>
              </a:rPr>
              <a:t>Montecarlo Simulations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it-IT" sz="4400" spc="-1" strike="noStrike">
                <a:solidFill>
                  <a:schemeClr val="lt1"/>
                </a:solidFill>
                <a:latin typeface="Verdana"/>
                <a:ea typeface="Verdana"/>
              </a:rPr>
              <a:t>for CI Actual Coverage 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5298480" y="3960000"/>
            <a:ext cx="172080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800" spc="-1" strike="noStrike">
                <a:solidFill>
                  <a:srgbClr val="ffffff"/>
                </a:solidFill>
                <a:latin typeface="Verdana"/>
              </a:rPr>
              <a:t>Wald &amp; Wilson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1080000" y="4860000"/>
            <a:ext cx="3780000" cy="10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800" spc="-1" strike="noStrike">
                <a:solidFill>
                  <a:srgbClr val="ffffff"/>
                </a:solidFill>
                <a:latin typeface="Verdana"/>
              </a:rPr>
              <a:t>Autori: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800" spc="-1" strike="noStrike">
                <a:solidFill>
                  <a:srgbClr val="ffffff"/>
                </a:solidFill>
                <a:latin typeface="Verdana"/>
              </a:rPr>
              <a:t>Innocenti Andrea 7201956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800" spc="-1" strike="noStrike">
                <a:solidFill>
                  <a:srgbClr val="ffffff"/>
                </a:solidFill>
                <a:latin typeface="Verdana"/>
              </a:rPr>
              <a:t>Zanni Niccolò 7205639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" descr=""/>
          <p:cNvPicPr/>
          <p:nvPr/>
        </p:nvPicPr>
        <p:blipFill>
          <a:blip r:embed="rId1"/>
          <a:stretch/>
        </p:blipFill>
        <p:spPr>
          <a:xfrm>
            <a:off x="1440000" y="3240000"/>
            <a:ext cx="3599280" cy="3048480"/>
          </a:xfrm>
          <a:prstGeom prst="rect">
            <a:avLst/>
          </a:prstGeom>
          <a:ln w="0">
            <a:noFill/>
          </a:ln>
        </p:spPr>
      </p:pic>
      <p:pic>
        <p:nvPicPr>
          <p:cNvPr id="31" name="" descr=""/>
          <p:cNvPicPr/>
          <p:nvPr/>
        </p:nvPicPr>
        <p:blipFill>
          <a:blip r:embed="rId2"/>
          <a:stretch/>
        </p:blipFill>
        <p:spPr>
          <a:xfrm>
            <a:off x="6840000" y="3240000"/>
            <a:ext cx="3599280" cy="3048480"/>
          </a:xfrm>
          <a:prstGeom prst="rect">
            <a:avLst/>
          </a:prstGeom>
          <a:ln w="0">
            <a:noFill/>
          </a:ln>
        </p:spPr>
      </p:pic>
      <p:sp>
        <p:nvSpPr>
          <p:cNvPr id="32" name=""/>
          <p:cNvSpPr/>
          <p:nvPr/>
        </p:nvSpPr>
        <p:spPr>
          <a:xfrm>
            <a:off x="1440000" y="6120000"/>
            <a:ext cx="444060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85000"/>
              <a:buFont typeface="Wingdings" charset="2"/>
              <a:buChar char=""/>
            </a:pPr>
            <a:r>
              <a:rPr b="0" lang="it-IT" sz="1800" spc="-1" strike="noStrike">
                <a:solidFill>
                  <a:srgbClr val="000000"/>
                </a:solidFill>
                <a:latin typeface="Verdana"/>
              </a:rPr>
              <a:t>Wald CIs fail for very small values of p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6840000" y="6120000"/>
            <a:ext cx="357192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85000"/>
              <a:buFont typeface="Wingdings" charset="2"/>
              <a:buChar char=""/>
            </a:pPr>
            <a:r>
              <a:rPr b="0" lang="it-IT" sz="1800" spc="-1" strike="noStrike">
                <a:solidFill>
                  <a:srgbClr val="000000"/>
                </a:solidFill>
                <a:latin typeface="Verdana"/>
              </a:rPr>
              <a:t>Wilson CIs always falls in [0,1]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1440000" y="1440000"/>
            <a:ext cx="105768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800" spc="-1" strike="noStrike">
                <a:solidFill>
                  <a:srgbClr val="000000"/>
                </a:solidFill>
                <a:latin typeface="Verdana"/>
              </a:rPr>
              <a:t>Wald CI: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6840000" y="1440000"/>
            <a:ext cx="124236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800" spc="-1" strike="noStrike">
                <a:solidFill>
                  <a:srgbClr val="000000"/>
                </a:solidFill>
                <a:latin typeface="Verdana"/>
              </a:rPr>
              <a:t>Wilson CI: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" name="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840000" y="1980000"/>
            <a:ext cx="5266080" cy="773280"/>
          </a:xfrm>
          <a:prstGeom prst="rect">
            <a:avLst/>
          </a:prstGeom>
          <a:ln w="0">
            <a:noFill/>
          </a:ln>
        </p:spPr>
      </p:pic>
      <p:pic>
        <p:nvPicPr>
          <p:cNvPr id="37" name="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440000" y="2070000"/>
            <a:ext cx="2756880" cy="611280"/>
          </a:xfrm>
          <a:prstGeom prst="rect">
            <a:avLst/>
          </a:prstGeom>
          <a:ln w="0">
            <a:noFill/>
          </a:ln>
        </p:spPr>
      </p:pic>
      <p:sp>
        <p:nvSpPr>
          <p:cNvPr id="38" name=""/>
          <p:cNvSpPr txBox="1"/>
          <p:nvPr/>
        </p:nvSpPr>
        <p:spPr>
          <a:xfrm>
            <a:off x="4320000" y="180000"/>
            <a:ext cx="3371040" cy="1056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it-IT" sz="2800" spc="-1" strike="noStrike">
                <a:solidFill>
                  <a:srgbClr val="004c7f"/>
                </a:solidFill>
                <a:latin typeface="Verdana"/>
              </a:rPr>
              <a:t>CI segment plots</a:t>
            </a:r>
            <a:endParaRPr b="1" lang="it-IT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/>
          </p:nvPr>
        </p:nvSpPr>
        <p:spPr>
          <a:xfrm>
            <a:off x="328680" y="6607440"/>
            <a:ext cx="10119240" cy="249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1100" spc="-1" strike="noStrike">
                <a:solidFill>
                  <a:schemeClr val="lt2"/>
                </a:solidFill>
                <a:latin typeface="Verdana"/>
                <a:ea typeface="Verdana"/>
              </a:rPr>
              <a:t>1 Data Exploration</a:t>
            </a:r>
            <a:endParaRPr b="0" lang="it-IT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Rectangle 1"/>
          <p:cNvSpPr/>
          <p:nvPr/>
        </p:nvSpPr>
        <p:spPr>
          <a:xfrm>
            <a:off x="0" y="-18468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lIns="90000" rIns="90000" tIns="45000" bIns="450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pc="-1" strike="noStrike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41" name="Connettore diritto 15"/>
          <p:cNvCxnSpPr/>
          <p:nvPr/>
        </p:nvCxnSpPr>
        <p:spPr>
          <a:xfrm>
            <a:off x="2773440" y="587520"/>
            <a:ext cx="915480" cy="915480"/>
          </a:xfrm>
          <a:prstGeom prst="straightConnector1">
            <a:avLst/>
          </a:prstGeom>
          <a:ln w="0">
            <a:solidFill>
              <a:srgbClr val="ffffff"/>
            </a:solidFill>
          </a:ln>
        </p:spPr>
      </p:cxnSp>
      <p:sp>
        <p:nvSpPr>
          <p:cNvPr id="42" name=""/>
          <p:cNvSpPr/>
          <p:nvPr/>
        </p:nvSpPr>
        <p:spPr>
          <a:xfrm>
            <a:off x="540360" y="5400000"/>
            <a:ext cx="467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85000"/>
              <a:buFont typeface="Wingdings" charset="2"/>
              <a:buChar char=""/>
            </a:pPr>
            <a:r>
              <a:rPr b="0" lang="it-IT" sz="1800" spc="-1" strike="noStrike">
                <a:solidFill>
                  <a:srgbClr val="000000"/>
                </a:solidFill>
                <a:latin typeface="Verdana"/>
              </a:rPr>
              <a:t>CI heatmap for wald. The best results are 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85000"/>
              <a:buFont typeface="Wingdings" charset="2"/>
              <a:buChar char=""/>
            </a:pPr>
            <a:r>
              <a:rPr b="0" lang="it-IT" sz="1800" spc="-1" strike="noStrike">
                <a:solidFill>
                  <a:srgbClr val="000000"/>
                </a:solidFill>
                <a:latin typeface="Verdana"/>
              </a:rPr>
              <a:t>obtained with a big number of samplings.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 rot="21562200">
            <a:off x="6482880" y="5425560"/>
            <a:ext cx="4680000" cy="66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85000"/>
              <a:buFont typeface="Wingdings" charset="2"/>
              <a:buChar char=""/>
            </a:pPr>
            <a:r>
              <a:rPr b="0" lang="it-IT" sz="1800" spc="-1" strike="noStrike">
                <a:solidFill>
                  <a:srgbClr val="000000"/>
                </a:solidFill>
                <a:latin typeface="Verdana"/>
              </a:rPr>
              <a:t>Wilson test manages to obtain better actual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85000"/>
              <a:buFont typeface="Wingdings" charset="2"/>
              <a:buChar char=""/>
            </a:pPr>
            <a:r>
              <a:rPr b="0" lang="it-IT" sz="1800" spc="-1" strike="noStrike">
                <a:solidFill>
                  <a:srgbClr val="000000"/>
                </a:solidFill>
                <a:latin typeface="Verdana"/>
              </a:rPr>
              <a:t>coverage with small values of p and n.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540000" y="1260000"/>
            <a:ext cx="5399640" cy="4226040"/>
          </a:xfrm>
          <a:prstGeom prst="rect">
            <a:avLst/>
          </a:prstGeom>
          <a:ln w="0">
            <a:noFill/>
          </a:ln>
        </p:spPr>
      </p:pic>
      <p:pic>
        <p:nvPicPr>
          <p:cNvPr id="45" name="" descr=""/>
          <p:cNvPicPr/>
          <p:nvPr/>
        </p:nvPicPr>
        <p:blipFill>
          <a:blip r:embed="rId2"/>
          <a:stretch/>
        </p:blipFill>
        <p:spPr>
          <a:xfrm>
            <a:off x="6480000" y="1260000"/>
            <a:ext cx="5400000" cy="4222800"/>
          </a:xfrm>
          <a:prstGeom prst="rect">
            <a:avLst/>
          </a:prstGeom>
          <a:ln w="0">
            <a:noFill/>
          </a:ln>
        </p:spPr>
      </p:pic>
      <p:sp>
        <p:nvSpPr>
          <p:cNvPr id="46" name=""/>
          <p:cNvSpPr txBox="1"/>
          <p:nvPr/>
        </p:nvSpPr>
        <p:spPr>
          <a:xfrm>
            <a:off x="4860000" y="180000"/>
            <a:ext cx="2616120" cy="5734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1" lang="it-IT" sz="2800" spc="-1" strike="noStrike">
                <a:solidFill>
                  <a:srgbClr val="004c7f"/>
                </a:solidFill>
                <a:latin typeface="Verdana"/>
              </a:rPr>
              <a:t>Heatmap Plot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360000" y="1440000"/>
            <a:ext cx="5039640" cy="3880440"/>
          </a:xfrm>
          <a:prstGeom prst="rect">
            <a:avLst/>
          </a:prstGeom>
          <a:ln w="0">
            <a:noFill/>
          </a:ln>
        </p:spPr>
      </p:pic>
      <p:pic>
        <p:nvPicPr>
          <p:cNvPr id="48" name="" descr=""/>
          <p:cNvPicPr/>
          <p:nvPr/>
        </p:nvPicPr>
        <p:blipFill>
          <a:blip r:embed="rId2"/>
          <a:stretch/>
        </p:blipFill>
        <p:spPr>
          <a:xfrm>
            <a:off x="6480000" y="1440000"/>
            <a:ext cx="5039640" cy="3876840"/>
          </a:xfrm>
          <a:prstGeom prst="rect">
            <a:avLst/>
          </a:prstGeom>
          <a:ln w="0">
            <a:noFill/>
          </a:ln>
        </p:spPr>
      </p:pic>
      <p:sp>
        <p:nvSpPr>
          <p:cNvPr id="49" name=""/>
          <p:cNvSpPr/>
          <p:nvPr/>
        </p:nvSpPr>
        <p:spPr>
          <a:xfrm>
            <a:off x="360000" y="5400000"/>
            <a:ext cx="593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85000"/>
              <a:buFont typeface="Wingdings" charset="2"/>
              <a:buChar char=""/>
            </a:pPr>
            <a:r>
              <a:rPr b="0" lang="it-IT" sz="1800" spc="-1" strike="noStrike">
                <a:solidFill>
                  <a:srgbClr val="000000"/>
                </a:solidFill>
                <a:latin typeface="Verdana"/>
              </a:rPr>
              <a:t>Wald has a worst actual cover probability for values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85000"/>
              <a:buFont typeface="Wingdings" charset="2"/>
              <a:buChar char=""/>
            </a:pPr>
            <a:r>
              <a:rPr b="0" lang="it-IT" sz="1800" spc="-1" strike="noStrike">
                <a:solidFill>
                  <a:srgbClr val="000000"/>
                </a:solidFill>
                <a:latin typeface="Verdana"/>
              </a:rPr>
              <a:t>of p closed to the edge compared to Wilson.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6480000" y="5400000"/>
            <a:ext cx="593964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85000"/>
              <a:buFont typeface="Wingdings" charset="2"/>
              <a:buChar char=""/>
            </a:pPr>
            <a:r>
              <a:rPr b="0" lang="it-IT" sz="1800" spc="-1" strike="noStrike">
                <a:solidFill>
                  <a:srgbClr val="000000"/>
                </a:solidFill>
                <a:latin typeface="Verdana"/>
              </a:rPr>
              <a:t>For values of p far from the edges Wilson and 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85000"/>
              <a:buFont typeface="Wingdings" charset="2"/>
              <a:buChar char=""/>
            </a:pPr>
            <a:r>
              <a:rPr b="0" lang="it-IT" sz="1800" spc="-1" strike="noStrike">
                <a:solidFill>
                  <a:srgbClr val="000000"/>
                </a:solidFill>
                <a:latin typeface="Verdana"/>
              </a:rPr>
              <a:t>Wald obtain the same actual cover probability.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1080000" y="5040000"/>
            <a:ext cx="327564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000000"/>
                </a:solidFill>
                <a:latin typeface="Verdana"/>
              </a:rPr>
              <a:t>Wald actual cover for varying p n = 1000, n_sim = 500.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7200000" y="5040000"/>
            <a:ext cx="33976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000000"/>
                </a:solidFill>
                <a:latin typeface="Verdana"/>
              </a:rPr>
              <a:t>Wilson actual cover for varying p n = 1000, n_sim = 500.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4140000" y="180000"/>
            <a:ext cx="3861360" cy="5734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1" lang="it-IT" sz="2800" spc="-1" strike="noStrike">
                <a:solidFill>
                  <a:srgbClr val="004c7f"/>
                </a:solidFill>
                <a:latin typeface="Verdana"/>
              </a:rPr>
              <a:t>Actual Coverage Plot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40000" y="1080000"/>
            <a:ext cx="3598920" cy="940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000" spc="-1" strike="noStrike">
                <a:solidFill>
                  <a:schemeClr val="lt1"/>
                </a:solidFill>
                <a:latin typeface="Verdana"/>
                <a:ea typeface="Verdana"/>
              </a:rPr>
              <a:t>Conclusions</a:t>
            </a:r>
            <a:endParaRPr b="0" lang="it-IT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540000" y="4320000"/>
            <a:ext cx="8069760" cy="30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it-IT" sz="2400" spc="-1" strike="noStrike">
                <a:solidFill>
                  <a:srgbClr val="ffffff"/>
                </a:solidFill>
                <a:latin typeface="Verdana"/>
              </a:rPr>
              <a:t>References: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600" spc="-1" strike="noStrike">
                <a:solidFill>
                  <a:srgbClr val="ffffff"/>
                </a:solidFill>
                <a:latin typeface="Verdana"/>
              </a:rPr>
              <a:t>Alessandra, Mattei (2025). Slides05_HyphotesisTests [Slide di PowerPoint].</a:t>
            </a:r>
            <a:endParaRPr b="0" lang="it-IT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600" spc="-1" strike="noStrike">
                <a:solidFill>
                  <a:srgbClr val="ffffff"/>
                </a:solidFill>
                <a:latin typeface="Verdana"/>
              </a:rPr>
              <a:t>Alessandra, Mattei (2025). Slides06_CI [Slide di PowerPoint].</a:t>
            </a:r>
            <a:endParaRPr b="0" lang="it-IT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600" spc="-1" strike="noStrike">
                <a:solidFill>
                  <a:srgbClr val="ffffff"/>
                </a:solidFill>
                <a:latin typeface="Verdana"/>
              </a:rPr>
              <a:t>Anna, Gottard (2026). slides01_FSL [Slide di PowerPoint].</a:t>
            </a:r>
            <a:endParaRPr b="0" lang="it-IT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600" spc="-1" strike="noStrike">
                <a:solidFill>
                  <a:srgbClr val="ffffff"/>
                </a:solidFill>
                <a:latin typeface="Verdana"/>
              </a:rPr>
              <a:t>Anna, Gottard (2026). Lab01 [File Html].</a:t>
            </a:r>
            <a:endParaRPr b="0" lang="it-IT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600" spc="-1" strike="noStrike">
                <a:solidFill>
                  <a:srgbClr val="ffffff"/>
                </a:solidFill>
                <a:latin typeface="Verdana"/>
              </a:rPr>
              <a:t>Claude: </a:t>
            </a:r>
            <a:r>
              <a:rPr b="0" lang="it-IT" sz="1600" spc="-1" strike="noStrike" u="sng">
                <a:solidFill>
                  <a:srgbClr val="ffffff"/>
                </a:solidFill>
                <a:uFillTx/>
                <a:latin typeface="Verdana"/>
                <a:hlinkClick r:id="rId1"/>
              </a:rPr>
              <a:t>https://claude.com</a:t>
            </a:r>
            <a:endParaRPr b="0" lang="it-IT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600" spc="-1" strike="noStrike">
                <a:solidFill>
                  <a:srgbClr val="ffffff"/>
                </a:solidFill>
                <a:latin typeface="Verdana"/>
              </a:rPr>
              <a:t>Gemini: </a:t>
            </a:r>
            <a:r>
              <a:rPr b="0" lang="it-IT" sz="1600" spc="-1" strike="noStrike" u="sng">
                <a:solidFill>
                  <a:srgbClr val="ffffff"/>
                </a:solidFill>
                <a:uFillTx/>
                <a:latin typeface="Verdana"/>
                <a:hlinkClick r:id="rId2"/>
              </a:rPr>
              <a:t>https://gemini.google.com</a:t>
            </a:r>
            <a:endParaRPr b="0" lang="it-IT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2400" spc="-1" strike="noStrike">
                <a:solidFill>
                  <a:srgbClr val="ffffff"/>
                </a:solidFill>
                <a:latin typeface="Verdana"/>
              </a:rPr>
              <a:t> 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540000" y="1800000"/>
            <a:ext cx="10799640" cy="21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540000" y="2160000"/>
            <a:ext cx="10980000" cy="71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it-IT" sz="1800" spc="-1" strike="noStrike">
                <a:solidFill>
                  <a:srgbClr val="ffffff"/>
                </a:solidFill>
                <a:latin typeface="Verdana"/>
              </a:rPr>
              <a:t>Overall Wilson performs better than Wald, especially for values of p near the edges of the domain.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plate UniFI">
  <a:themeElements>
    <a:clrScheme name="UNIFI">
      <a:dk1>
        <a:srgbClr val="000000"/>
      </a:dk1>
      <a:lt1>
        <a:srgbClr val="ffffff"/>
      </a:lt1>
      <a:dk2>
        <a:srgbClr val="004c7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4c7f"/>
      </a:hlink>
      <a:folHlink>
        <a:srgbClr val="004c7f"/>
      </a:folHlink>
    </a:clrScheme>
    <a:fontScheme name="Tema di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plate UniFI">
  <a:themeElements>
    <a:clrScheme name="UNIFI">
      <a:dk1>
        <a:srgbClr val="000000"/>
      </a:dk1>
      <a:lt1>
        <a:srgbClr val="ffffff"/>
      </a:lt1>
      <a:dk2>
        <a:srgbClr val="004c7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4c7f"/>
      </a:hlink>
      <a:folHlink>
        <a:srgbClr val="004c7f"/>
      </a:folHlink>
    </a:clrScheme>
    <a:fontScheme name="Tema di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plate UniFI">
  <a:themeElements>
    <a:clrScheme name="UNIFI">
      <a:dk1>
        <a:srgbClr val="000000"/>
      </a:dk1>
      <a:lt1>
        <a:srgbClr val="ffffff"/>
      </a:lt1>
      <a:dk2>
        <a:srgbClr val="004c7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4c7f"/>
      </a:hlink>
      <a:folHlink>
        <a:srgbClr val="004c7f"/>
      </a:folHlink>
    </a:clrScheme>
    <a:fontScheme name="Tema di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plate UniFI">
  <a:themeElements>
    <a:clrScheme name="UNIFI">
      <a:dk1>
        <a:srgbClr val="000000"/>
      </a:dk1>
      <a:lt1>
        <a:srgbClr val="ffffff"/>
      </a:lt1>
      <a:dk2>
        <a:srgbClr val="004c7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4c7f"/>
      </a:hlink>
      <a:folHlink>
        <a:srgbClr val="004c7f"/>
      </a:folHlink>
    </a:clrScheme>
    <a:fontScheme name="Tema di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plate UniFI">
  <a:themeElements>
    <a:clrScheme name="UNIFI">
      <a:dk1>
        <a:srgbClr val="000000"/>
      </a:dk1>
      <a:lt1>
        <a:srgbClr val="ffffff"/>
      </a:lt1>
      <a:dk2>
        <a:srgbClr val="004c7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4c7f"/>
      </a:hlink>
      <a:folHlink>
        <a:srgbClr val="004c7f"/>
      </a:folHlink>
    </a:clrScheme>
    <a:fontScheme name="Tema di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mplate UniFI">
  <a:themeElements>
    <a:clrScheme name="UNIFI">
      <a:dk1>
        <a:srgbClr val="000000"/>
      </a:dk1>
      <a:lt1>
        <a:srgbClr val="ffffff"/>
      </a:lt1>
      <a:dk2>
        <a:srgbClr val="004c7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4c7f"/>
      </a:hlink>
      <a:folHlink>
        <a:srgbClr val="004c7f"/>
      </a:folHlink>
    </a:clrScheme>
    <a:fontScheme name="Tema di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emplate UniFI">
  <a:themeElements>
    <a:clrScheme name="UNIFI">
      <a:dk1>
        <a:srgbClr val="000000"/>
      </a:dk1>
      <a:lt1>
        <a:srgbClr val="ffffff"/>
      </a:lt1>
      <a:dk2>
        <a:srgbClr val="004c7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4c7f"/>
      </a:hlink>
      <a:folHlink>
        <a:srgbClr val="004c7f"/>
      </a:folHlink>
    </a:clrScheme>
    <a:fontScheme name="Tema di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2617</TotalTime>
  <Application>LibreOffice/24.2.7.2$Linux_X86_64 LibreOffice_project/420$Build-2</Application>
  <AppVersion>15.0000</AppVersion>
  <Words>1321</Words>
  <Paragraphs>281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2020-11-12T10:34:42Z</dcterms:created>
  <dc:creator>Unità funzionale Prodotti e strumenti per la comunicazione istituzionale</dc:creator>
  <dc:description/>
  <dc:language>it-IT</dc:language>
  <cp:lastModifiedBy/>
  <dcterms:modified xsi:type="dcterms:W3CDTF">2026-03-15T16:46:21Z</dcterms:modified>
  <cp:revision>77</cp:revision>
  <dc:subject/>
  <dc:title>Template PPT istituzionale Università di Firenze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Widescreen</vt:lpwstr>
  </property>
  <property fmtid="{D5CDD505-2E9C-101B-9397-08002B2CF9AE}" pid="4" name="Slides">
    <vt:i4>22</vt:i4>
  </property>
</Properties>
</file>